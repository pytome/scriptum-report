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28" y="1479716"/>
            <a:ext cx="642182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&lt;title/&gt;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74858-3197-4A23-850F-DC9969C61F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6027" y="3959391"/>
            <a:ext cx="642181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&lt;subtitle/&gt;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70290A-E3EF-4095-9F9B-E2B28447F1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2952" y="1479716"/>
            <a:ext cx="4414673" cy="41352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image:title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7578187-E539-4FD7-A797-09FA1D9BE655}"/>
              </a:ext>
            </a:extLst>
          </p:cNvPr>
          <p:cNvSpPr txBox="1">
            <a:spLocks/>
          </p:cNvSpPr>
          <p:nvPr userDrawn="1"/>
        </p:nvSpPr>
        <p:spPr>
          <a:xfrm>
            <a:off x="536027" y="6353939"/>
            <a:ext cx="1865586" cy="36512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&lt;created/&gt;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27F2D13-E832-46B9-B6C3-8816B6FAD8D4}"/>
              </a:ext>
            </a:extLst>
          </p:cNvPr>
          <p:cNvSpPr txBox="1">
            <a:spLocks/>
          </p:cNvSpPr>
          <p:nvPr userDrawn="1"/>
        </p:nvSpPr>
        <p:spPr>
          <a:xfrm>
            <a:off x="3221420" y="6353938"/>
            <a:ext cx="1865586" cy="36512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B0F0"/>
                </a:solidFill>
              </a:rPr>
              <a:t>&lt;author/&gt;</a:t>
            </a:r>
          </a:p>
        </p:txBody>
      </p:sp>
    </p:spTree>
    <p:extLst>
      <p:ext uri="{BB962C8B-B14F-4D97-AF65-F5344CB8AC3E}">
        <p14:creationId xmlns:p14="http://schemas.microsoft.com/office/powerpoint/2010/main" val="152871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y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2566" y="1479715"/>
            <a:ext cx="10016358" cy="472956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50000"/>
              </a:lnSpc>
              <a:defRPr sz="2400">
                <a:latin typeface="Comic Sans MS" panose="030F0702030302020204" pitchFamily="66" charset="0"/>
              </a:defRPr>
            </a:lvl1pPr>
          </a:lstStyle>
          <a:p>
            <a:r>
              <a:rPr lang="de-DE" dirty="0"/>
              <a:t>&lt;</a:t>
            </a:r>
            <a:r>
              <a:rPr lang="de-DE" dirty="0" err="1"/>
              <a:t>text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B057-85CC-4FEF-B98E-3CF86E4C304E}"/>
              </a:ext>
            </a:extLst>
          </p:cNvPr>
          <p:cNvSpPr txBox="1"/>
          <p:nvPr userDrawn="1"/>
        </p:nvSpPr>
        <p:spPr>
          <a:xfrm>
            <a:off x="536027" y="648719"/>
            <a:ext cx="31373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latin typeface="Comic Sans MS" panose="030F0702030302020204" pitchFamily="66" charset="0"/>
              </a:rPr>
              <a:t>The Story</a:t>
            </a:r>
            <a:endParaRPr lang="en-US" sz="4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95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2566" y="1479715"/>
            <a:ext cx="10016358" cy="472956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50000"/>
              </a:lnSpc>
              <a:defRPr sz="2800">
                <a:latin typeface="Comic Sans MS" panose="030F0702030302020204" pitchFamily="66" charset="0"/>
              </a:defRPr>
            </a:lvl1pPr>
          </a:lstStyle>
          <a:p>
            <a:r>
              <a:rPr lang="de-DE" dirty="0"/>
              <a:t>&lt;</a:t>
            </a:r>
            <a:r>
              <a:rPr lang="en-US" dirty="0"/>
              <a:t>item1/&gt;</a:t>
            </a:r>
            <a:br>
              <a:rPr lang="en-US" dirty="0"/>
            </a:br>
            <a:r>
              <a:rPr lang="de-DE" dirty="0"/>
              <a:t>&lt;</a:t>
            </a:r>
            <a:r>
              <a:rPr lang="en-US" dirty="0"/>
              <a:t>item2/&gt;</a:t>
            </a:r>
            <a:br>
              <a:rPr lang="en-US" dirty="0"/>
            </a:br>
            <a:r>
              <a:rPr lang="de-DE" dirty="0"/>
              <a:t>&lt;</a:t>
            </a:r>
            <a:r>
              <a:rPr lang="en-US" dirty="0"/>
              <a:t>item3/&gt;</a:t>
            </a:r>
            <a:br>
              <a:rPr lang="en-US" dirty="0"/>
            </a:br>
            <a:r>
              <a:rPr lang="de-DE" dirty="0"/>
              <a:t>&lt;</a:t>
            </a:r>
            <a:r>
              <a:rPr lang="en-US" dirty="0"/>
              <a:t>item4/&gt;</a:t>
            </a:r>
            <a:br>
              <a:rPr lang="en-US" dirty="0"/>
            </a:br>
            <a:r>
              <a:rPr lang="de-DE" dirty="0"/>
              <a:t>&lt;</a:t>
            </a:r>
            <a:r>
              <a:rPr lang="en-US" dirty="0"/>
              <a:t>item5/&gt;</a:t>
            </a:r>
            <a:br>
              <a:rPr lang="en-US" dirty="0"/>
            </a:br>
            <a:r>
              <a:rPr lang="de-DE" dirty="0"/>
              <a:t>&lt;</a:t>
            </a:r>
            <a:r>
              <a:rPr lang="en-US" dirty="0"/>
              <a:t>item6/&gt;</a:t>
            </a:r>
            <a:br>
              <a:rPr lang="en-US" dirty="0"/>
            </a:br>
            <a:r>
              <a:rPr lang="de-DE" dirty="0"/>
              <a:t>&lt;</a:t>
            </a:r>
            <a:r>
              <a:rPr lang="en-US" dirty="0"/>
              <a:t>item7/&gt;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B057-85CC-4FEF-B98E-3CF86E4C304E}"/>
              </a:ext>
            </a:extLst>
          </p:cNvPr>
          <p:cNvSpPr txBox="1"/>
          <p:nvPr userDrawn="1"/>
        </p:nvSpPr>
        <p:spPr>
          <a:xfrm>
            <a:off x="536027" y="648719"/>
            <a:ext cx="24400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latin typeface="Comic Sans MS" panose="030F0702030302020204" pitchFamily="66" charset="0"/>
              </a:rPr>
              <a:t>Content</a:t>
            </a:r>
            <a:endParaRPr lang="en-US" sz="4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39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ext_imag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2566" y="1479715"/>
            <a:ext cx="6905296" cy="472956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50000"/>
              </a:lnSpc>
              <a:defRPr sz="2400">
                <a:latin typeface="Comic Sans MS" panose="030F0702030302020204" pitchFamily="66" charset="0"/>
              </a:defRPr>
            </a:lvl1pPr>
          </a:lstStyle>
          <a:p>
            <a:r>
              <a:rPr lang="de-DE" dirty="0"/>
              <a:t>&lt;</a:t>
            </a:r>
            <a:r>
              <a:rPr lang="de-DE" dirty="0" err="1"/>
              <a:t>text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B057-85CC-4FEF-B98E-3CF86E4C304E}"/>
              </a:ext>
            </a:extLst>
          </p:cNvPr>
          <p:cNvSpPr txBox="1"/>
          <p:nvPr userDrawn="1"/>
        </p:nvSpPr>
        <p:spPr>
          <a:xfrm>
            <a:off x="536027" y="648719"/>
            <a:ext cx="2972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latin typeface="Comic Sans MS" panose="030F0702030302020204" pitchFamily="66" charset="0"/>
              </a:rPr>
              <a:t>&lt;</a:t>
            </a:r>
            <a:r>
              <a:rPr lang="de-DE" sz="4800" dirty="0" err="1">
                <a:latin typeface="Comic Sans MS" panose="030F0702030302020204" pitchFamily="66" charset="0"/>
              </a:rPr>
              <a:t>header</a:t>
            </a:r>
            <a:r>
              <a:rPr lang="de-DE" sz="4800" dirty="0">
                <a:latin typeface="Comic Sans MS" panose="030F0702030302020204" pitchFamily="66" charset="0"/>
              </a:rPr>
              <a:t>/&gt;</a:t>
            </a:r>
            <a:endParaRPr lang="en-US" sz="4800" dirty="0">
              <a:latin typeface="Comic Sans MS" panose="030F0702030302020204" pitchFamily="66" charset="0"/>
            </a:endParaRP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A568FAE-5E15-467E-8E4D-49ED1F149E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61434" y="1479715"/>
            <a:ext cx="3878317" cy="37123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&lt;</a:t>
            </a:r>
            <a:r>
              <a:rPr lang="de-DE" dirty="0" err="1"/>
              <a:t>image:small</a:t>
            </a:r>
            <a:r>
              <a:rPr lang="de-DE" dirty="0"/>
              <a:t>/&gt;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5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ex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2566" y="1479715"/>
            <a:ext cx="10352688" cy="472956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50000"/>
              </a:lnSpc>
              <a:defRPr sz="2400">
                <a:latin typeface="Comic Sans MS" panose="030F0702030302020204" pitchFamily="66" charset="0"/>
              </a:defRPr>
            </a:lvl1pPr>
          </a:lstStyle>
          <a:p>
            <a:r>
              <a:rPr lang="de-DE" dirty="0"/>
              <a:t>&lt;</a:t>
            </a:r>
            <a:r>
              <a:rPr lang="de-DE" dirty="0" err="1"/>
              <a:t>text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B057-85CC-4FEF-B98E-3CF86E4C304E}"/>
              </a:ext>
            </a:extLst>
          </p:cNvPr>
          <p:cNvSpPr txBox="1"/>
          <p:nvPr userDrawn="1"/>
        </p:nvSpPr>
        <p:spPr>
          <a:xfrm>
            <a:off x="536027" y="648719"/>
            <a:ext cx="2972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latin typeface="Comic Sans MS" panose="030F0702030302020204" pitchFamily="66" charset="0"/>
              </a:rPr>
              <a:t>&lt;</a:t>
            </a:r>
            <a:r>
              <a:rPr lang="de-DE" sz="4800" dirty="0" err="1">
                <a:latin typeface="Comic Sans MS" panose="030F0702030302020204" pitchFamily="66" charset="0"/>
              </a:rPr>
              <a:t>header</a:t>
            </a:r>
            <a:r>
              <a:rPr lang="de-DE" sz="4800" dirty="0">
                <a:latin typeface="Comic Sans MS" panose="030F0702030302020204" pitchFamily="66" charset="0"/>
              </a:rPr>
              <a:t>/&gt;</a:t>
            </a:r>
            <a:endParaRPr lang="en-US" sz="4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5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fre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2566" y="1479715"/>
            <a:ext cx="10352688" cy="472956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50000"/>
              </a:lnSpc>
              <a:defRPr sz="2400">
                <a:latin typeface="Comic Sans MS" panose="030F0702030302020204" pitchFamily="66" charset="0"/>
              </a:defRPr>
            </a:lvl1pPr>
          </a:lstStyle>
          <a:p>
            <a:r>
              <a:rPr lang="de-DE" dirty="0"/>
              <a:t>&lt;</a:t>
            </a:r>
            <a:r>
              <a:rPr lang="de-DE" dirty="0" err="1"/>
              <a:t>marker:content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B057-85CC-4FEF-B98E-3CF86E4C304E}"/>
              </a:ext>
            </a:extLst>
          </p:cNvPr>
          <p:cNvSpPr txBox="1"/>
          <p:nvPr userDrawn="1"/>
        </p:nvSpPr>
        <p:spPr>
          <a:xfrm>
            <a:off x="536027" y="648719"/>
            <a:ext cx="29722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latin typeface="Comic Sans MS" panose="030F0702030302020204" pitchFamily="66" charset="0"/>
              </a:rPr>
              <a:t>&lt;</a:t>
            </a:r>
            <a:r>
              <a:rPr lang="de-DE" sz="4800" dirty="0" err="1">
                <a:latin typeface="Comic Sans MS" panose="030F0702030302020204" pitchFamily="66" charset="0"/>
              </a:rPr>
              <a:t>header</a:t>
            </a:r>
            <a:r>
              <a:rPr lang="de-DE" sz="4800" dirty="0">
                <a:latin typeface="Comic Sans MS" panose="030F0702030302020204" pitchFamily="66" charset="0"/>
              </a:rPr>
              <a:t>/&gt;</a:t>
            </a:r>
            <a:endParaRPr lang="en-US" sz="4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195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end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61-FA34-4078-B0FA-7FF3D59CA5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2566" y="1479715"/>
            <a:ext cx="10352688" cy="4729565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50000"/>
              </a:lnSpc>
              <a:defRPr sz="2400">
                <a:latin typeface="Comic Sans MS" panose="030F0702030302020204" pitchFamily="66" charset="0"/>
              </a:defRPr>
            </a:lvl1pPr>
          </a:lstStyle>
          <a:p>
            <a:r>
              <a:rPr lang="de-DE" dirty="0"/>
              <a:t>&lt;</a:t>
            </a:r>
            <a:r>
              <a:rPr lang="de-DE" dirty="0" err="1"/>
              <a:t>text</a:t>
            </a:r>
            <a:r>
              <a:rPr lang="de-DE" dirty="0"/>
              <a:t>/&gt;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96C2-C036-4552-92E9-403C0F4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5254" y="6356350"/>
            <a:ext cx="591207" cy="365125"/>
          </a:xfrm>
          <a:prstGeom prst="rect">
            <a:avLst/>
          </a:prstGeom>
        </p:spPr>
        <p:txBody>
          <a:bodyPr/>
          <a:lstStyle/>
          <a:p>
            <a:fld id="{ADDDB8BE-D9E0-4DEC-8F2B-8B6D58A5BF9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EB057-85CC-4FEF-B98E-3CF86E4C304E}"/>
              </a:ext>
            </a:extLst>
          </p:cNvPr>
          <p:cNvSpPr txBox="1"/>
          <p:nvPr userDrawn="1"/>
        </p:nvSpPr>
        <p:spPr>
          <a:xfrm>
            <a:off x="536027" y="648719"/>
            <a:ext cx="29626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latin typeface="Comic Sans MS" panose="030F0702030302020204" pitchFamily="66" charset="0"/>
              </a:rPr>
              <a:t>The end…</a:t>
            </a:r>
            <a:endParaRPr lang="en-US" sz="4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98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g:Col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23669" y="294275"/>
            <a:ext cx="6577244" cy="795664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color config slide “</a:t>
            </a:r>
            <a:r>
              <a:rPr kumimoji="0" lang="en-US" sz="1467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Config:Colors</a:t>
            </a: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color usage is yet not implemented but colors are read by scriptum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DO NOT USE THEME COLORS HERE!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90390868"/>
              </p:ext>
            </p:extLst>
          </p:nvPr>
        </p:nvGraphicFramePr>
        <p:xfrm>
          <a:off x="935121" y="1438561"/>
          <a:ext cx="10700541" cy="424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562">
                  <a:extLst>
                    <a:ext uri="{9D8B030D-6E8A-4147-A177-3AD203B41FA5}">
                      <a16:colId xmlns:a16="http://schemas.microsoft.com/office/drawing/2014/main" val="3090768325"/>
                    </a:ext>
                  </a:extLst>
                </a:gridCol>
                <a:gridCol w="1095336">
                  <a:extLst>
                    <a:ext uri="{9D8B030D-6E8A-4147-A177-3AD203B41FA5}">
                      <a16:colId xmlns:a16="http://schemas.microsoft.com/office/drawing/2014/main" val="2137316240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2735744912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350426279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3325016012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3476998146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3992255862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852577756"/>
                    </a:ext>
                  </a:extLst>
                </a:gridCol>
                <a:gridCol w="1188949">
                  <a:extLst>
                    <a:ext uri="{9D8B030D-6E8A-4147-A177-3AD203B41FA5}">
                      <a16:colId xmlns:a16="http://schemas.microsoft.com/office/drawing/2014/main" val="1280069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r>
                        <a:rPr lang="de-DE" sz="1300" dirty="0" err="1"/>
                        <a:t>darkblue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0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/>
                        <a:t>amazon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/>
                        <a:t>green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/>
                        <a:t>red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orange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yellow</a:t>
                      </a:r>
                      <a:endParaRPr lang="de-DE" sz="13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>
                          <a:solidFill>
                            <a:schemeClr val="bg1"/>
                          </a:solidFill>
                        </a:rPr>
                        <a:t>black</a:t>
                      </a:r>
                      <a:endParaRPr lang="de-DE"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9581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de-DE" sz="1300" dirty="0" err="1">
                          <a:solidFill>
                            <a:schemeClr val="bg1"/>
                          </a:solidFill>
                        </a:rPr>
                        <a:t>blue</a:t>
                      </a:r>
                      <a:endParaRPr lang="de-DE"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>
                          <a:solidFill>
                            <a:schemeClr val="bg1"/>
                          </a:solidFill>
                        </a:rPr>
                        <a:t>darkgrey</a:t>
                      </a:r>
                      <a:endParaRPr lang="de-DE"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078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de-DE" sz="1300" dirty="0" err="1"/>
                        <a:t>cyan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>
                          <a:solidFill>
                            <a:schemeClr val="bg1"/>
                          </a:solidFill>
                        </a:rPr>
                        <a:t>grey100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232526"/>
                  </a:ext>
                </a:extLst>
              </a:tr>
              <a:tr h="339789">
                <a:tc>
                  <a:txBody>
                    <a:bodyPr/>
                    <a:lstStyle/>
                    <a:p>
                      <a:r>
                        <a:rPr lang="de-DE" sz="1300" dirty="0" err="1"/>
                        <a:t>darkturquoise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ED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>
                          <a:solidFill>
                            <a:schemeClr val="bg1"/>
                          </a:solidFill>
                        </a:rPr>
                        <a:t>grey120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7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30550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de-DE" sz="1300" dirty="0" err="1">
                          <a:solidFill>
                            <a:schemeClr val="bg1"/>
                          </a:solidFill>
                        </a:rPr>
                        <a:t>azure</a:t>
                      </a:r>
                      <a:endParaRPr lang="de-DE"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>
                          <a:solidFill>
                            <a:schemeClr val="bg1"/>
                          </a:solidFill>
                        </a:rPr>
                        <a:t>grey</a:t>
                      </a:r>
                      <a:endParaRPr lang="de-DE" sz="1300" dirty="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6797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lang="de-DE" sz="1300" dirty="0" err="1"/>
                        <a:t>celeste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>
                          <a:solidFill>
                            <a:schemeClr val="bg1"/>
                          </a:solidFill>
                        </a:rPr>
                        <a:t>grey160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A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89739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3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>
                          <a:solidFill>
                            <a:schemeClr val="bg1"/>
                          </a:solidFill>
                        </a:rPr>
                        <a:t>grey180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88986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/>
                        <a:t>grey200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1196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/>
                        <a:t>lightgrey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532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/>
                        <a:t>Grey240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63047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/>
                        <a:t>Grey245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24955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/>
                        <a:t>Nearwhite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12925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30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/>
                        <a:t>white</a:t>
                      </a:r>
                      <a:endParaRPr lang="de-DE" sz="13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9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14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Defaul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23665" y="103841"/>
            <a:ext cx="8593821" cy="795664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the default template slide “</a:t>
            </a:r>
            <a:r>
              <a:rPr kumimoji="0" lang="en-US" sz="1467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Template:Defaults</a:t>
            </a: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”, used to extract only fonts, sizes etc. 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Each shape may contain only one tag!</a:t>
            </a:r>
          </a:p>
          <a:p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string </a:t>
            </a:r>
            <a:r>
              <a:rPr lang="en-US" sz="1467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'The quick brown fox jumps over the lazy dog’ </a:t>
            </a:r>
            <a:r>
              <a:rPr kumimoji="0" lang="en-US" sz="1467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will be removed automatically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23667" y="1217910"/>
            <a:ext cx="10018143" cy="487695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:heading</a:t>
            </a:r>
            <a:r>
              <a:rPr kumimoji="0" lang="en-D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24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023668" y="2047096"/>
            <a:ext cx="9500560" cy="261928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ctr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933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p:caption</a:t>
            </a:r>
            <a:r>
              <a:rPr kumimoji="0" lang="en-DE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933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023669" y="1664957"/>
            <a:ext cx="10018143" cy="405685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867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p:default</a:t>
            </a:r>
            <a:r>
              <a:rPr kumimoji="0" lang="en-DE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1867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023667" y="2380868"/>
            <a:ext cx="9500560" cy="261928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r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933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p:footnote</a:t>
            </a:r>
            <a:r>
              <a:rPr kumimoji="0" lang="en-DE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 </a:t>
            </a:r>
            <a:r>
              <a:rPr lang="en-US" sz="933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023666" y="3702129"/>
            <a:ext cx="932513" cy="261928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933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size:tiny</a:t>
            </a:r>
            <a:r>
              <a:rPr kumimoji="0" lang="en-DE" sz="9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933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2337424" y="3693243"/>
            <a:ext cx="1372273" cy="323483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333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size:small</a:t>
            </a:r>
            <a:r>
              <a:rPr kumimoji="0" lang="en-DE" sz="13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3372406" y="3650145"/>
            <a:ext cx="2135519" cy="405685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1867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size:normalsize</a:t>
            </a:r>
            <a:r>
              <a:rPr kumimoji="0" lang="en-DE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262719" y="3660531"/>
            <a:ext cx="2484364" cy="528796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2667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size:large</a:t>
            </a:r>
            <a:r>
              <a:rPr kumimoji="0" lang="en-DE" sz="26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7303237" y="3767796"/>
            <a:ext cx="3614971" cy="692815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7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&lt;</a:t>
            </a:r>
            <a:r>
              <a:rPr kumimoji="0" lang="en-US" sz="3733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size:huge</a:t>
            </a:r>
            <a:r>
              <a:rPr kumimoji="0" lang="en-DE" sz="3733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itchFamily="34" charset="0"/>
              </a:rPr>
              <a:t>/&gt;</a:t>
            </a:r>
            <a:endParaRPr kumimoji="0" lang="en-US" sz="3733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23664" y="2659006"/>
            <a:ext cx="6019483" cy="405685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&lt;</a:t>
            </a:r>
            <a:r>
              <a:rPr kumimoji="0" lang="en-US" sz="1867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p:code</a:t>
            </a:r>
            <a:r>
              <a:rPr kumimoji="0" lang="en-DE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/&gt;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sz="1867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quick brown fox jumps over the lazy dog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023668" y="4691209"/>
            <a:ext cx="9282027" cy="405685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67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&lt;p</a:t>
            </a:r>
            <a:r>
              <a:rPr lang="en-US" sz="1867" b="0" i="1" u="sng" kern="1200" baseline="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:</a:t>
            </a:r>
            <a:r>
              <a:rPr lang="en-US" sz="1867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custom1</a:t>
            </a:r>
            <a:r>
              <a:rPr lang="en-DE" sz="1867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/&gt;</a:t>
            </a:r>
            <a:r>
              <a:rPr lang="en-US" sz="1867" b="0" i="1" u="sng" kern="1200" noProof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 </a:t>
            </a:r>
            <a:r>
              <a:rPr lang="en-US" sz="1867" b="0" i="1" u="sng" kern="1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+mn-ea"/>
                <a:cs typeface="+mn-cs"/>
              </a:rPr>
              <a:t>The quick brown fox jumps over the lazy dog</a:t>
            </a:r>
            <a:endParaRPr kumimoji="0" lang="en-US" sz="1867" b="0" i="1" u="sng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omic Sans MS" panose="030F0702030302020204" pitchFamily="66" charset="0"/>
              <a:ea typeface="+mn-ea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23668" y="4404996"/>
            <a:ext cx="5393650" cy="344130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Special effects currently unsupported (shadow, outline…):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56727F-95B6-4454-BABF-068D2F471096}"/>
              </a:ext>
            </a:extLst>
          </p:cNvPr>
          <p:cNvSpPr txBox="1"/>
          <p:nvPr userDrawn="1"/>
        </p:nvSpPr>
        <p:spPr>
          <a:xfrm>
            <a:off x="1023664" y="3420019"/>
            <a:ext cx="2669123" cy="344130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Sizing yet not implemented:</a:t>
            </a:r>
          </a:p>
        </p:txBody>
      </p:sp>
    </p:spTree>
    <p:extLst>
      <p:ext uri="{BB962C8B-B14F-4D97-AF65-F5344CB8AC3E}">
        <p14:creationId xmlns:p14="http://schemas.microsoft.com/office/powerpoint/2010/main" val="223332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ab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91317826"/>
              </p:ext>
            </p:extLst>
          </p:nvPr>
        </p:nvGraphicFramePr>
        <p:xfrm>
          <a:off x="1111839" y="2678219"/>
          <a:ext cx="10466176" cy="4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Calibri" panose="020F0502020204030204" pitchFamily="34" charset="0"/>
                        </a:rPr>
                        <a:t>&lt;</a:t>
                      </a:r>
                      <a:r>
                        <a:rPr lang="en-US" sz="1300" dirty="0" err="1">
                          <a:latin typeface="Calibri" panose="020F0502020204030204" pitchFamily="34" charset="0"/>
                        </a:rPr>
                        <a:t>table:default</a:t>
                      </a:r>
                      <a:r>
                        <a:rPr lang="en-DE" sz="1300" dirty="0">
                          <a:latin typeface="Calibri" panose="020F0502020204030204" pitchFamily="34" charset="0"/>
                        </a:rPr>
                        <a:t>/&gt;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r>
                        <a:rPr lang="de-DE" sz="13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de-DE" sz="13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81255115"/>
              </p:ext>
            </p:extLst>
          </p:nvPr>
        </p:nvGraphicFramePr>
        <p:xfrm>
          <a:off x="1111839" y="3827043"/>
          <a:ext cx="10466176" cy="406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23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3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&lt;</a:t>
                      </a:r>
                      <a:r>
                        <a:rPr lang="en-US" sz="1300" dirty="0" err="1"/>
                        <a:t>table:blue</a:t>
                      </a:r>
                      <a:r>
                        <a:rPr lang="en-US" sz="1300" dirty="0"/>
                        <a:t>/&gt;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00" b="1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300" b="1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/>
                      <a:r>
                        <a:rPr lang="de-DE" sz="13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300" dirty="0" err="1">
                          <a:latin typeface="Calibri" panose="020F0502020204030204" pitchFamily="34" charset="0"/>
                        </a:rPr>
                        <a:t>text</a:t>
                      </a:r>
                      <a:endParaRPr lang="en-US" sz="1300" dirty="0"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 userDrawn="1"/>
        </p:nvSpPr>
        <p:spPr>
          <a:xfrm>
            <a:off x="1023668" y="68669"/>
            <a:ext cx="10305829" cy="1924498"/>
          </a:xfrm>
          <a:prstGeom prst="rect">
            <a:avLst/>
          </a:prstGeom>
        </p:spPr>
        <p:txBody>
          <a:bodyPr wrap="non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table config slide, only the tables are saved as templates, you cannot group a table with something else 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which is a permanent PowerPoint limitation!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Table design is subject to heavy change </a:t>
            </a:r>
          </a:p>
          <a:p>
            <a:pPr marL="228594" marR="0" indent="-228594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The width is defined by the free space – or by the width below if it fits</a:t>
            </a:r>
          </a:p>
          <a:p>
            <a:pPr marL="228594" marR="0" indent="-228594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the table has a pre-defined design (from Table Design) no other colors are possible – PPT way of working</a:t>
            </a:r>
          </a:p>
          <a:p>
            <a:pPr marL="228594" marR="0" indent="-228594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If you want to have a new design, you must clear the table before painting a 3x3/4x4 table, without Theme Colors!</a:t>
            </a:r>
          </a:p>
          <a:p>
            <a:pPr marL="228594" marR="0" indent="-228594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For now we cannot handle borders</a:t>
            </a:r>
          </a:p>
          <a:p>
            <a:pPr marL="228594" marR="0" indent="-228594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Margins are respected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86721955"/>
              </p:ext>
            </p:extLst>
          </p:nvPr>
        </p:nvGraphicFramePr>
        <p:xfrm>
          <a:off x="1125485" y="4804897"/>
          <a:ext cx="5253108" cy="97536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751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036">
                  <a:extLst>
                    <a:ext uri="{9D8B030D-6E8A-4147-A177-3AD203B41FA5}">
                      <a16:colId xmlns:a16="http://schemas.microsoft.com/office/drawing/2014/main" val="131548598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r>
                        <a:rPr lang="en-US" sz="1300" b="1" noProof="0">
                          <a:latin typeface="Bradley Hand ITC" panose="03070402050302030203" pitchFamily="66" charset="0"/>
                        </a:rPr>
                        <a:t>&lt;table:small/&gt;</a:t>
                      </a:r>
                      <a:endParaRPr lang="en-US" sz="1300" b="1" noProof="0">
                        <a:solidFill>
                          <a:schemeClr val="tx1"/>
                        </a:solidFill>
                        <a:latin typeface="Bradley Hand ITC" panose="03070402050302030203" pitchFamily="66" charset="0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noProof="0">
                          <a:solidFill>
                            <a:schemeClr val="bg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noProof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91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noProof="0" dirty="0">
                          <a:solidFill>
                            <a:schemeClr val="tx1"/>
                          </a:solidFill>
                          <a:latin typeface="Bradley Hand ITC" panose="03070402050302030203" pitchFamily="66" charset="0"/>
                        </a:rPr>
                        <a:t>text</a:t>
                      </a: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8066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9C5E411-86B4-41AC-B09A-54062DAFDE33}"/>
              </a:ext>
            </a:extLst>
          </p:cNvPr>
          <p:cNvSpPr txBox="1"/>
          <p:nvPr userDrawn="1"/>
        </p:nvSpPr>
        <p:spPr>
          <a:xfrm>
            <a:off x="1125484" y="2396751"/>
            <a:ext cx="3173507" cy="323483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33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&lt;table:default:description/&gt;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0A7029-310A-4906-8DEE-4D820DC13DCE}"/>
              </a:ext>
            </a:extLst>
          </p:cNvPr>
          <p:cNvCxnSpPr>
            <a:cxnSpLocks/>
            <a:stCxn id="10" idx="1"/>
            <a:endCxn id="6" idx="3"/>
          </p:cNvCxnSpPr>
          <p:nvPr userDrawn="1"/>
        </p:nvCxnSpPr>
        <p:spPr>
          <a:xfrm flipH="1">
            <a:off x="4298991" y="2460011"/>
            <a:ext cx="3275322" cy="98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D97F42-DE65-4166-847F-4F868C04402A}"/>
              </a:ext>
            </a:extLst>
          </p:cNvPr>
          <p:cNvSpPr txBox="1"/>
          <p:nvPr userDrawn="1"/>
        </p:nvSpPr>
        <p:spPr>
          <a:xfrm>
            <a:off x="7574313" y="2216163"/>
            <a:ext cx="4240065" cy="487695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test with a text box as header/description for tables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 must match table:name: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description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19F1B-AF5E-4727-9C9D-9A76726614D4}"/>
              </a:ext>
            </a:extLst>
          </p:cNvPr>
          <p:cNvSpPr txBox="1"/>
          <p:nvPr userDrawn="1"/>
        </p:nvSpPr>
        <p:spPr>
          <a:xfrm>
            <a:off x="1126948" y="3529704"/>
            <a:ext cx="3173507" cy="323483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33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Arial" pitchFamily="34" charset="0"/>
              </a:rPr>
              <a:t>Table: &lt;table:blue:description/&gt;</a:t>
            </a:r>
          </a:p>
        </p:txBody>
      </p:sp>
    </p:spTree>
    <p:extLst>
      <p:ext uri="{BB962C8B-B14F-4D97-AF65-F5344CB8AC3E}">
        <p14:creationId xmlns:p14="http://schemas.microsoft.com/office/powerpoint/2010/main" val="75885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23669" y="407158"/>
            <a:ext cx="4993733" cy="569897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467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6796616" y="1130224"/>
            <a:ext cx="3840000" cy="4159012"/>
            <a:chOff x="5097462" y="847668"/>
            <a:chExt cx="2880000" cy="3119259"/>
          </a:xfrm>
        </p:grpSpPr>
        <p:sp>
          <p:nvSpPr>
            <p:cNvPr id="12" name="TextBox 11"/>
            <p:cNvSpPr txBox="1"/>
            <p:nvPr userDrawn="1"/>
          </p:nvSpPr>
          <p:spPr>
            <a:xfrm>
              <a:off x="5097462" y="847668"/>
              <a:ext cx="2880000" cy="251245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1172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6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6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image:history</a:t>
              </a:r>
              <a:r>
                <a:rPr kumimoji="0" lang="de-DE" sz="16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6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6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097462" y="1086927"/>
              <a:ext cx="2880000" cy="288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FF0000"/>
                  </a:solidFill>
                </a:rPr>
                <a:t>&lt;</a:t>
              </a:r>
              <a:r>
                <a:rPr lang="de-DE" sz="2400" dirty="0" err="1">
                  <a:solidFill>
                    <a:srgbClr val="FF0000"/>
                  </a:solidFill>
                </a:rPr>
                <a:t>image:history</a:t>
              </a:r>
              <a:r>
                <a:rPr lang="de-DE" sz="2400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grpSp>
        <p:nvGrpSpPr>
          <p:cNvPr id="5" name="Group 4"/>
          <p:cNvGrpSpPr/>
          <p:nvPr userDrawn="1"/>
        </p:nvGrpSpPr>
        <p:grpSpPr>
          <a:xfrm>
            <a:off x="1116881" y="1130225"/>
            <a:ext cx="4628225" cy="4646582"/>
            <a:chOff x="837660" y="847668"/>
            <a:chExt cx="3471169" cy="3484937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37660" y="847668"/>
              <a:ext cx="2880000" cy="251246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l" defTabSz="1172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6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Fig: &lt;</a:t>
              </a:r>
              <a:r>
                <a:rPr kumimoji="0" lang="de-DE" sz="1600" b="1" i="1" u="sng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image:generic</a:t>
              </a:r>
              <a:r>
                <a:rPr kumimoji="0" lang="de-DE" sz="1600" b="1" i="1" u="sng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600" b="1" i="1" u="sng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600" b="1" i="1" u="sng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4" name="Rectangle 3"/>
            <p:cNvSpPr/>
            <p:nvPr userDrawn="1"/>
          </p:nvSpPr>
          <p:spPr>
            <a:xfrm>
              <a:off x="837660" y="1110010"/>
              <a:ext cx="3471169" cy="3222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FF0000"/>
                  </a:solidFill>
                </a:rPr>
                <a:t>&lt;</a:t>
              </a:r>
              <a:r>
                <a:rPr lang="de-DE" sz="2400" dirty="0" err="1">
                  <a:solidFill>
                    <a:srgbClr val="FF0000"/>
                  </a:solidFill>
                </a:rPr>
                <a:t>image:generic</a:t>
              </a:r>
              <a:r>
                <a:rPr lang="de-DE" sz="2400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1116880" y="5897545"/>
            <a:ext cx="3597261" cy="487695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Please group shapes in case of extra captions etc.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Effects like shadows are yet not supported/copied</a:t>
            </a:r>
          </a:p>
        </p:txBody>
      </p:sp>
    </p:spTree>
    <p:extLst>
      <p:ext uri="{BB962C8B-B14F-4D97-AF65-F5344CB8AC3E}">
        <p14:creationId xmlns:p14="http://schemas.microsoft.com/office/powerpoint/2010/main" val="3748733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Image: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23669" y="407158"/>
            <a:ext cx="4993733" cy="569897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image template slide</a:t>
            </a:r>
            <a:b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467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</a:t>
            </a: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CURRENTLY </a:t>
            </a:r>
            <a:r>
              <a:rPr kumimoji="0" lang="en-US" sz="1467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16881" y="1480014"/>
            <a:ext cx="4628225" cy="4296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rgbClr val="FF0000"/>
                </a:solidFill>
              </a:rPr>
              <a:t>&lt;</a:t>
            </a:r>
            <a:r>
              <a:rPr lang="de-DE" sz="2400" dirty="0" err="1">
                <a:solidFill>
                  <a:srgbClr val="FF0000"/>
                </a:solidFill>
              </a:rPr>
              <a:t>image:simple</a:t>
            </a:r>
            <a:r>
              <a:rPr lang="de-DE" sz="2400" dirty="0">
                <a:solidFill>
                  <a:srgbClr val="FF0000"/>
                </a:solidFill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4247302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Animate: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23669" y="407158"/>
            <a:ext cx="4993733" cy="569897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one animation template slide</a:t>
            </a:r>
            <a:b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467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1023668" y="1119961"/>
            <a:ext cx="4919981" cy="4677618"/>
            <a:chOff x="767751" y="839970"/>
            <a:chExt cx="3689986" cy="3508214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7751" y="839970"/>
              <a:ext cx="3600000" cy="251246"/>
            </a:xfrm>
            <a:prstGeom prst="rect">
              <a:avLst/>
            </a:prstGeom>
          </p:spPr>
          <p:txBody>
            <a:bodyPr wrap="square" lIns="36000" tIns="43957" rIns="87916" bIns="43957" rtlCol="0" anchor="ctr">
              <a:spAutoFit/>
            </a:bodyPr>
            <a:lstStyle/>
            <a:p>
              <a:pPr marL="0" marR="0" indent="0" algn="ctr" defTabSz="11721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Animation: &lt;</a:t>
              </a:r>
              <a:r>
                <a:rPr kumimoji="0" lang="de-DE" sz="1600" b="1" i="1" u="none" strike="noStrike" kern="1200" cap="none" spc="0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animation:generic</a:t>
              </a:r>
              <a:r>
                <a:rPr kumimoji="0" lang="de-DE" sz="1600" b="1" i="1" u="none" strike="noStrike" kern="1200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:</a:t>
              </a:r>
              <a:r>
                <a:rPr kumimoji="0" lang="de-DE" sz="1600" b="1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description</a:t>
              </a:r>
              <a:r>
                <a:rPr kumimoji="0" lang="de-DE" sz="1600" b="1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/&gt;</a:t>
              </a: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857737" y="1108184"/>
              <a:ext cx="3600000" cy="324000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400" dirty="0">
                  <a:solidFill>
                    <a:srgbClr val="FF0000"/>
                  </a:solidFill>
                </a:rPr>
                <a:t>&lt;</a:t>
              </a:r>
              <a:r>
                <a:rPr lang="de-DE" sz="2400" dirty="0" err="1">
                  <a:solidFill>
                    <a:srgbClr val="FF0000"/>
                  </a:solidFill>
                </a:rPr>
                <a:t>animation:generic</a:t>
              </a:r>
              <a:r>
                <a:rPr lang="de-DE" sz="2400" dirty="0">
                  <a:solidFill>
                    <a:srgbClr val="FF0000"/>
                  </a:solidFill>
                </a:rPr>
                <a:t>/&gt;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308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:text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23668" y="181393"/>
            <a:ext cx="5887952" cy="1021430"/>
          </a:xfrm>
          <a:prstGeom prst="rect">
            <a:avLst/>
          </a:prstGeom>
        </p:spPr>
        <p:txBody>
          <a:bodyPr wrap="non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a text block template slide</a:t>
            </a:r>
            <a:b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en-US" sz="14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THIS IS CURRENTLY </a:t>
            </a:r>
            <a:r>
              <a:rPr kumimoji="0" lang="en-US" sz="1467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SUBJECT TO HEAVY CHANGES 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67" b="1" i="1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67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Current limitation – newlines in the strings will break the search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266549" y="1834170"/>
            <a:ext cx="2689273" cy="1267652"/>
          </a:xfrm>
          <a:prstGeom prst="rect">
            <a:avLst/>
          </a:prstGeom>
        </p:spPr>
        <p:txBody>
          <a:bodyPr wrap="square" lIns="48000" tIns="58609" rIns="117221" bIns="58609" rtlCol="0" anchor="ctr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 text block &lt;</a:t>
            </a:r>
            <a:r>
              <a:rPr kumimoji="0" lang="en-US" sz="1867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text:test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 Including </a:t>
            </a:r>
            <a:r>
              <a:rPr kumimoji="0" lang="en-US" sz="1867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multiple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lines </a:t>
            </a: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…</a:t>
            </a:r>
          </a:p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Here it ends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2442C-3B14-4CC9-BFFE-493CB45EEE32}"/>
              </a:ext>
            </a:extLst>
          </p:cNvPr>
          <p:cNvSpPr txBox="1"/>
          <p:nvPr userDrawn="1"/>
        </p:nvSpPr>
        <p:spPr>
          <a:xfrm>
            <a:off x="5787053" y="3429000"/>
            <a:ext cx="2569200" cy="487695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A general text may look like this &lt;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text:insert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/&gt;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A231A2-F374-4096-8890-68AF23DCBAF3}"/>
              </a:ext>
            </a:extLst>
          </p:cNvPr>
          <p:cNvSpPr txBox="1"/>
          <p:nvPr userDrawn="1"/>
        </p:nvSpPr>
        <p:spPr>
          <a:xfrm>
            <a:off x="5781557" y="2310146"/>
            <a:ext cx="2394544" cy="528603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l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Some further info &lt;</a:t>
            </a:r>
            <a:r>
              <a:rPr kumimoji="0" lang="en-US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text:insert:info</a:t>
            </a: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/&gt;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B9F7E-BCA4-4295-981A-B6ED213A3519}"/>
              </a:ext>
            </a:extLst>
          </p:cNvPr>
          <p:cNvSpPr txBox="1"/>
          <p:nvPr userDrawn="1"/>
        </p:nvSpPr>
        <p:spPr>
          <a:xfrm>
            <a:off x="5841637" y="2890091"/>
            <a:ext cx="2394544" cy="487695"/>
          </a:xfrm>
          <a:prstGeom prst="rect">
            <a:avLst/>
          </a:prstGeom>
        </p:spPr>
        <p:txBody>
          <a:bodyPr wrap="square" lIns="48000" tIns="58609" rIns="117221" bIns="58609" rtlCol="0" anchor="t">
            <a:spAutoFit/>
          </a:bodyPr>
          <a:lstStyle/>
          <a:p>
            <a:pPr marL="0" marR="0" indent="0" algn="ctr" defTabSz="1172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And even more &lt;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text:insert:more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Arial" pitchFamily="34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4143479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cumentation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4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D1B982-2245-4A7D-97A3-EBF74AA9288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603" y="0"/>
            <a:ext cx="1724397" cy="1124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F1AA95-2C76-4EE5-83CB-D3B57B63FEB7}"/>
              </a:ext>
            </a:extLst>
          </p:cNvPr>
          <p:cNvSpPr txBox="1"/>
          <p:nvPr userDrawn="1"/>
        </p:nvSpPr>
        <p:spPr>
          <a:xfrm rot="16200000">
            <a:off x="-934686" y="3244334"/>
            <a:ext cx="223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This is a test template</a:t>
            </a:r>
          </a:p>
        </p:txBody>
      </p:sp>
    </p:spTree>
    <p:extLst>
      <p:ext uri="{BB962C8B-B14F-4D97-AF65-F5344CB8AC3E}">
        <p14:creationId xmlns:p14="http://schemas.microsoft.com/office/powerpoint/2010/main" val="402886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63" r:id="rId5"/>
    <p:sldLayoutId id="2147483674" r:id="rId6"/>
    <p:sldLayoutId id="2147483673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Documentation: template usage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layout and all the following layouts named “Documentation*” are used to document this template and are ignored for further creation</a:t>
            </a:r>
          </a:p>
          <a:p>
            <a:pPr lvl="0"/>
            <a:r>
              <a:rPr lang="en-US" dirty="0"/>
              <a:t>They will be deleted (if possible in the future)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95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AD7B-EC79-4FF5-B292-4139C96FE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122" y="3252055"/>
            <a:ext cx="9144000" cy="2387600"/>
          </a:xfrm>
        </p:spPr>
        <p:txBody>
          <a:bodyPr/>
          <a:lstStyle/>
          <a:p>
            <a:r>
              <a:rPr lang="en-US" dirty="0"/>
              <a:t>TO BE FILLED</a:t>
            </a:r>
            <a:br>
              <a:rPr lang="en-US" dirty="0"/>
            </a:br>
            <a:r>
              <a:rPr lang="en-US" sz="3200" dirty="0"/>
              <a:t>- a template -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69F09-97CC-4BDD-BAD3-B5F64245E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307" y="297125"/>
            <a:ext cx="6361386" cy="414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6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ocum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Aharoni</vt:lpstr>
      <vt:lpstr>Arial</vt:lpstr>
      <vt:lpstr>Bahnschrift</vt:lpstr>
      <vt:lpstr>Bradley Hand ITC</vt:lpstr>
      <vt:lpstr>Calibri</vt:lpstr>
      <vt:lpstr>Calibri Light</vt:lpstr>
      <vt:lpstr>Comic Sans MS</vt:lpstr>
      <vt:lpstr>Consolas</vt:lpstr>
      <vt:lpstr>Office Theme</vt:lpstr>
      <vt:lpstr>Documentation</vt:lpstr>
      <vt:lpstr>TO BE FILLED - a template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 BE FILLED</dc:title>
  <dc:creator>EMMEL Thomas</dc:creator>
  <cp:lastModifiedBy>EMMEL Thomas</cp:lastModifiedBy>
  <cp:revision>13</cp:revision>
  <dcterms:created xsi:type="dcterms:W3CDTF">2025-11-14T11:37:27Z</dcterms:created>
  <dcterms:modified xsi:type="dcterms:W3CDTF">2025-11-14T15:49:32Z</dcterms:modified>
</cp:coreProperties>
</file>